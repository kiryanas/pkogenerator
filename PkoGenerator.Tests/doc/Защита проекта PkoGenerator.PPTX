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4" r:id="rId2"/>
    <p:sldId id="301" r:id="rId3"/>
    <p:sldId id="286" r:id="rId4"/>
    <p:sldId id="303" r:id="rId5"/>
    <p:sldId id="302" r:id="rId6"/>
    <p:sldId id="311" r:id="rId7"/>
    <p:sldId id="304" r:id="rId8"/>
    <p:sldId id="288" r:id="rId9"/>
    <p:sldId id="305" r:id="rId10"/>
    <p:sldId id="291" r:id="rId11"/>
    <p:sldId id="307" r:id="rId12"/>
    <p:sldId id="306" r:id="rId13"/>
    <p:sldId id="308" r:id="rId14"/>
    <p:sldId id="312" r:id="rId15"/>
    <p:sldId id="309" r:id="rId16"/>
    <p:sldId id="263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Яралиева Эвелина  (Yaralieva_EK)" initials="ЯЭ(" lastIdx="1" clrIdx="0">
    <p:extLst>
      <p:ext uri="{19B8F6BF-5375-455C-9EA6-DF929625EA0E}">
        <p15:presenceInfo xmlns:p15="http://schemas.microsoft.com/office/powerpoint/2012/main" userId="S-1-5-21-1146774878-2109238380-1982612992-88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949C"/>
    <a:srgbClr val="597FDA"/>
    <a:srgbClr val="F3951F"/>
    <a:srgbClr val="F2606E"/>
    <a:srgbClr val="009999"/>
    <a:srgbClr val="8AB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354" autoAdjust="0"/>
  </p:normalViewPr>
  <p:slideViewPr>
    <p:cSldViewPr snapToGrid="0" showGuides="1">
      <p:cViewPr>
        <p:scale>
          <a:sx n="100" d="100"/>
          <a:sy n="100" d="100"/>
        </p:scale>
        <p:origin x="126" y="-438"/>
      </p:cViewPr>
      <p:guideLst>
        <p:guide orient="horz" pos="2228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FA015-B649-420B-B9EF-287E478E3984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34A43-B6D2-4CFC-9154-7367E8D0C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3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Использовать</a:t>
            </a:r>
            <a:r>
              <a:rPr lang="ru-RU" b="1" baseline="0" dirty="0"/>
              <a:t> на </a:t>
            </a:r>
            <a:r>
              <a:rPr lang="ru-RU" b="1" baseline="0" dirty="0">
                <a:solidFill>
                  <a:srgbClr val="FF0000"/>
                </a:solidFill>
              </a:rPr>
              <a:t>очных выступлениях </a:t>
            </a:r>
            <a:r>
              <a:rPr lang="ru-RU" b="1" baseline="0" dirty="0"/>
              <a:t>в компании</a:t>
            </a:r>
            <a:r>
              <a:rPr lang="ru-RU" baseline="0" dirty="0"/>
              <a:t>: корпоративные часы, гильдии, летучки и проч.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507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Оформление списка, если нужно выделить</a:t>
            </a:r>
            <a:r>
              <a:rPr lang="ru-RU" baseline="0" dirty="0"/>
              <a:t> </a:t>
            </a:r>
            <a:r>
              <a:rPr lang="ru-RU" b="1" baseline="0" dirty="0"/>
              <a:t>несколько акцентов с подпунктами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72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18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712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Оформление списка, если нужно выделить</a:t>
            </a:r>
            <a:r>
              <a:rPr lang="ru-RU" baseline="0" dirty="0"/>
              <a:t> </a:t>
            </a:r>
            <a:r>
              <a:rPr lang="ru-RU" b="1" baseline="0" dirty="0"/>
              <a:t>несколько акцентов с подпунктами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744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Оформление списка, если нужно выделить</a:t>
            </a:r>
            <a:r>
              <a:rPr lang="ru-RU" baseline="0" dirty="0"/>
              <a:t> </a:t>
            </a:r>
            <a:r>
              <a:rPr lang="ru-RU" b="1" baseline="0" dirty="0"/>
              <a:t>несколько акцентов с подпунктами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761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baseline="0" dirty="0"/>
              <a:t>Картинка для «разбавления» текста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673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baseline="0" dirty="0"/>
              <a:t>Картинка для «разбавления» текста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52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baseline="0" dirty="0"/>
              <a:t>Картинка для «разбавления» текста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554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baseline="0" dirty="0"/>
              <a:t>Картинка для «разбавления» текста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252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baseline="0" dirty="0"/>
              <a:t>Картинка для «разбавления» текста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741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baseline="0" dirty="0"/>
              <a:t>Картинка для «разбавления» текста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34A43-B6D2-4CFC-9154-7367E8D0CEB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014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518117"/>
            <a:ext cx="9144000" cy="1674055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910862" y="4476976"/>
            <a:ext cx="8370277" cy="45719"/>
          </a:xfrm>
          <a:prstGeom prst="rect">
            <a:avLst/>
          </a:prstGeom>
          <a:solidFill>
            <a:srgbClr val="F39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1000" y="737932"/>
            <a:ext cx="2970000" cy="7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2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8253"/>
          <a:stretch/>
        </p:blipFill>
        <p:spPr>
          <a:xfrm>
            <a:off x="0" y="0"/>
            <a:ext cx="12192000" cy="4516916"/>
          </a:xfrm>
          <a:prstGeom prst="rect">
            <a:avLst/>
          </a:prstGeom>
        </p:spPr>
      </p:pic>
      <p:sp>
        <p:nvSpPr>
          <p:cNvPr id="5" name="Прямоугольник 4"/>
          <p:cNvSpPr/>
          <p:nvPr userDrawn="1"/>
        </p:nvSpPr>
        <p:spPr>
          <a:xfrm>
            <a:off x="0" y="0"/>
            <a:ext cx="12192000" cy="4522695"/>
          </a:xfrm>
          <a:prstGeom prst="rect">
            <a:avLst/>
          </a:prstGeom>
          <a:solidFill>
            <a:schemeClr val="tx1">
              <a:lumMod val="85000"/>
              <a:lumOff val="15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952057"/>
            <a:ext cx="9144000" cy="1674055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910862" y="4476976"/>
            <a:ext cx="8370277" cy="45719"/>
          </a:xfrm>
          <a:prstGeom prst="rect">
            <a:avLst/>
          </a:prstGeom>
          <a:solidFill>
            <a:srgbClr val="F39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1000" y="737932"/>
            <a:ext cx="2970000" cy="7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48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90" b="37835"/>
          <a:stretch/>
        </p:blipFill>
        <p:spPr>
          <a:xfrm>
            <a:off x="0" y="2069494"/>
            <a:ext cx="12192000" cy="2748873"/>
          </a:xfrm>
          <a:prstGeom prst="rect">
            <a:avLst/>
          </a:prstGeom>
        </p:spPr>
      </p:pic>
      <p:sp>
        <p:nvSpPr>
          <p:cNvPr id="5" name="Прямоугольник 4"/>
          <p:cNvSpPr/>
          <p:nvPr userDrawn="1"/>
        </p:nvSpPr>
        <p:spPr>
          <a:xfrm>
            <a:off x="0" y="2069494"/>
            <a:ext cx="12192000" cy="2753349"/>
          </a:xfrm>
          <a:prstGeom prst="rect">
            <a:avLst/>
          </a:prstGeom>
          <a:solidFill>
            <a:schemeClr val="tx1">
              <a:lumMod val="65000"/>
              <a:lumOff val="35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595523"/>
            <a:ext cx="9144000" cy="1674055"/>
          </a:xfrm>
        </p:spPr>
        <p:txBody>
          <a:bodyPr anchor="ctr">
            <a:normAutofit/>
          </a:bodyPr>
          <a:lstStyle>
            <a:lvl1pPr algn="ctr"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910862" y="4815642"/>
            <a:ext cx="8370277" cy="45719"/>
          </a:xfrm>
          <a:prstGeom prst="rect">
            <a:avLst/>
          </a:prstGeom>
          <a:solidFill>
            <a:srgbClr val="F39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1000" y="1082006"/>
            <a:ext cx="2970000" cy="74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3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5437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15848"/>
            <a:ext cx="5780903" cy="598702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21790"/>
            <a:ext cx="5780903" cy="453461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293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44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54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198605"/>
            <a:ext cx="10515600" cy="4978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790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58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3951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387488"/>
            <a:ext cx="9144000" cy="1674055"/>
          </a:xfrm>
        </p:spPr>
        <p:txBody>
          <a:bodyPr>
            <a:noAutofit/>
          </a:bodyPr>
          <a:lstStyle/>
          <a:p>
            <a:r>
              <a:rPr lang="ru-RU" sz="4400" dirty="0" smtClean="0"/>
              <a:t>Печать приходных кассовых ордеров</a:t>
            </a:r>
            <a:endParaRPr lang="ru-RU" sz="4400" dirty="0"/>
          </a:p>
        </p:txBody>
      </p:sp>
      <p:sp>
        <p:nvSpPr>
          <p:cNvPr id="4" name="TextBox 3"/>
          <p:cNvSpPr txBox="1"/>
          <p:nvPr/>
        </p:nvSpPr>
        <p:spPr>
          <a:xfrm>
            <a:off x="4253794" y="5323131"/>
            <a:ext cx="3453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Кирьянова Анастасия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15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Постановка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9099" y="1394976"/>
            <a:ext cx="11353801" cy="4978358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/>
              <a:t>Печать приходных кассовых ордеров. 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Приходит </a:t>
            </a:r>
            <a:r>
              <a:rPr lang="ru-RU" dirty="0" smtClean="0"/>
              <a:t>файл </a:t>
            </a:r>
            <a:r>
              <a:rPr lang="en-US" dirty="0" smtClean="0"/>
              <a:t>Excel </a:t>
            </a:r>
            <a:r>
              <a:rPr lang="ru-RU" dirty="0" smtClean="0"/>
              <a:t>с контрагентами и суммами.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Подготовить </a:t>
            </a:r>
            <a:r>
              <a:rPr lang="ru-RU" dirty="0" smtClean="0"/>
              <a:t>файлы для печати приходных кассовых ордеров</a:t>
            </a:r>
            <a:r>
              <a:rPr lang="ru-RU" dirty="0"/>
              <a:t> </a:t>
            </a:r>
            <a:r>
              <a:rPr lang="ru-RU" dirty="0" smtClean="0"/>
              <a:t>(ПКО) в </a:t>
            </a:r>
            <a:r>
              <a:rPr lang="ru-RU" dirty="0" smtClean="0"/>
              <a:t>формате </a:t>
            </a:r>
            <a:r>
              <a:rPr lang="en-US" dirty="0" smtClean="0"/>
              <a:t>Excel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Дополнительно:</a:t>
            </a:r>
          </a:p>
          <a:p>
            <a:r>
              <a:rPr lang="ru-RU" dirty="0" smtClean="0"/>
              <a:t>написаны </a:t>
            </a:r>
            <a:r>
              <a:rPr lang="ru-RU" dirty="0" err="1" smtClean="0"/>
              <a:t>автотесты</a:t>
            </a:r>
            <a:r>
              <a:rPr lang="ru-RU" dirty="0" smtClean="0"/>
              <a:t> на все публичные </a:t>
            </a:r>
            <a:r>
              <a:rPr lang="ru-RU" dirty="0" smtClean="0"/>
              <a:t>методы,</a:t>
            </a:r>
            <a:endParaRPr lang="ru-RU" dirty="0"/>
          </a:p>
          <a:p>
            <a:r>
              <a:rPr lang="ru-RU" dirty="0" smtClean="0"/>
              <a:t>логика </a:t>
            </a:r>
            <a:r>
              <a:rPr lang="ru-RU" dirty="0" smtClean="0"/>
              <a:t>должна быть </a:t>
            </a:r>
            <a:r>
              <a:rPr lang="ru-RU" dirty="0" err="1" smtClean="0"/>
              <a:t>переиспользуемой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02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1000125" y="2595523"/>
            <a:ext cx="10191750" cy="1674055"/>
          </a:xfrm>
        </p:spPr>
        <p:txBody>
          <a:bodyPr>
            <a:normAutofit/>
          </a:bodyPr>
          <a:lstStyle/>
          <a:p>
            <a:r>
              <a:rPr lang="ru-RU" dirty="0" smtClean="0"/>
              <a:t>Декомпозиция задачи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50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00" y="2529058"/>
            <a:ext cx="1806536" cy="1830623"/>
          </a:xfrm>
          <a:prstGeom prst="rect">
            <a:avLst/>
          </a:prstGeom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92" y="1396268"/>
            <a:ext cx="787500" cy="742500"/>
          </a:xfrm>
          <a:prstGeom prst="rect">
            <a:avLst/>
          </a:prstGeom>
        </p:spPr>
      </p:pic>
      <p:pic>
        <p:nvPicPr>
          <p:cNvPr id="45" name="Рисунок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512" y="1396268"/>
            <a:ext cx="855000" cy="855000"/>
          </a:xfrm>
          <a:prstGeom prst="rect">
            <a:avLst/>
          </a:prstGeom>
        </p:spPr>
      </p:pic>
      <p:cxnSp>
        <p:nvCxnSpPr>
          <p:cNvPr id="49" name="Прямая соединительная линия 48"/>
          <p:cNvCxnSpPr/>
          <p:nvPr/>
        </p:nvCxnSpPr>
        <p:spPr>
          <a:xfrm>
            <a:off x="4384109" y="1823768"/>
            <a:ext cx="363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Рисунок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92" y="2251268"/>
            <a:ext cx="787500" cy="742500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512" y="2251268"/>
            <a:ext cx="855000" cy="855000"/>
          </a:xfrm>
          <a:prstGeom prst="rect">
            <a:avLst/>
          </a:prstGeom>
        </p:spPr>
      </p:pic>
      <p:cxnSp>
        <p:nvCxnSpPr>
          <p:cNvPr id="52" name="Прямая соединительная линия 51"/>
          <p:cNvCxnSpPr/>
          <p:nvPr/>
        </p:nvCxnSpPr>
        <p:spPr>
          <a:xfrm>
            <a:off x="4384109" y="2678768"/>
            <a:ext cx="363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Рисунок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084" y="3161312"/>
            <a:ext cx="787500" cy="742500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104" y="3161312"/>
            <a:ext cx="855000" cy="855000"/>
          </a:xfrm>
          <a:prstGeom prst="rect">
            <a:avLst/>
          </a:prstGeom>
        </p:spPr>
      </p:pic>
      <p:cxnSp>
        <p:nvCxnSpPr>
          <p:cNvPr id="55" name="Прямая соединительная линия 54"/>
          <p:cNvCxnSpPr/>
          <p:nvPr/>
        </p:nvCxnSpPr>
        <p:spPr>
          <a:xfrm>
            <a:off x="4380701" y="3588812"/>
            <a:ext cx="363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Рисунок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084" y="4128812"/>
            <a:ext cx="787500" cy="742500"/>
          </a:xfrm>
          <a:prstGeom prst="rect">
            <a:avLst/>
          </a:prstGeom>
        </p:spPr>
      </p:pic>
      <p:pic>
        <p:nvPicPr>
          <p:cNvPr id="57" name="Рисунок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104" y="4128812"/>
            <a:ext cx="855000" cy="855000"/>
          </a:xfrm>
          <a:prstGeom prst="rect">
            <a:avLst/>
          </a:prstGeom>
        </p:spPr>
      </p:pic>
      <p:cxnSp>
        <p:nvCxnSpPr>
          <p:cNvPr id="58" name="Прямая соединительная линия 57"/>
          <p:cNvCxnSpPr/>
          <p:nvPr/>
        </p:nvCxnSpPr>
        <p:spPr>
          <a:xfrm>
            <a:off x="4380701" y="4556312"/>
            <a:ext cx="363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Рисунок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715" y="5668855"/>
            <a:ext cx="787500" cy="742500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735" y="5668855"/>
            <a:ext cx="855000" cy="855000"/>
          </a:xfrm>
          <a:prstGeom prst="rect">
            <a:avLst/>
          </a:prstGeom>
        </p:spPr>
      </p:pic>
      <p:cxnSp>
        <p:nvCxnSpPr>
          <p:cNvPr id="61" name="Прямая соединительная линия 60"/>
          <p:cNvCxnSpPr/>
          <p:nvPr/>
        </p:nvCxnSpPr>
        <p:spPr>
          <a:xfrm>
            <a:off x="4352332" y="6096355"/>
            <a:ext cx="363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Блок-схема: узел 61"/>
          <p:cNvSpPr/>
          <p:nvPr/>
        </p:nvSpPr>
        <p:spPr>
          <a:xfrm>
            <a:off x="4143938" y="5310994"/>
            <a:ext cx="87597" cy="85725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Блок-схема: узел 63"/>
          <p:cNvSpPr/>
          <p:nvPr/>
        </p:nvSpPr>
        <p:spPr>
          <a:xfrm>
            <a:off x="4509521" y="5310993"/>
            <a:ext cx="87597" cy="85725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Блок-схема: узел 64"/>
          <p:cNvSpPr/>
          <p:nvPr/>
        </p:nvSpPr>
        <p:spPr>
          <a:xfrm>
            <a:off x="4875104" y="5310993"/>
            <a:ext cx="87597" cy="85725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Стрелка вправо 65"/>
          <p:cNvSpPr/>
          <p:nvPr/>
        </p:nvSpPr>
        <p:spPr>
          <a:xfrm>
            <a:off x="6264374" y="1596731"/>
            <a:ext cx="839244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67" name="Рисунок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480" y="1470817"/>
            <a:ext cx="1087202" cy="761567"/>
          </a:xfrm>
          <a:prstGeom prst="rect">
            <a:avLst/>
          </a:prstGeom>
        </p:spPr>
      </p:pic>
      <p:sp>
        <p:nvSpPr>
          <p:cNvPr id="68" name="Стрелка вправо 67"/>
          <p:cNvSpPr/>
          <p:nvPr/>
        </p:nvSpPr>
        <p:spPr>
          <a:xfrm>
            <a:off x="6264374" y="2427207"/>
            <a:ext cx="839244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69" name="Рисунок 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480" y="2301293"/>
            <a:ext cx="1087202" cy="761567"/>
          </a:xfrm>
          <a:prstGeom prst="rect">
            <a:avLst/>
          </a:prstGeom>
        </p:spPr>
      </p:pic>
      <p:sp>
        <p:nvSpPr>
          <p:cNvPr id="70" name="Стрелка вправо 69"/>
          <p:cNvSpPr/>
          <p:nvPr/>
        </p:nvSpPr>
        <p:spPr>
          <a:xfrm>
            <a:off x="6264374" y="3287226"/>
            <a:ext cx="839244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71" name="Рисунок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480" y="3161312"/>
            <a:ext cx="1087202" cy="761567"/>
          </a:xfrm>
          <a:prstGeom prst="rect">
            <a:avLst/>
          </a:prstGeom>
        </p:spPr>
      </p:pic>
      <p:sp>
        <p:nvSpPr>
          <p:cNvPr id="72" name="Стрелка вправо 71"/>
          <p:cNvSpPr/>
          <p:nvPr/>
        </p:nvSpPr>
        <p:spPr>
          <a:xfrm>
            <a:off x="6264374" y="4235659"/>
            <a:ext cx="839244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73" name="Рисунок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480" y="4109745"/>
            <a:ext cx="1087202" cy="761567"/>
          </a:xfrm>
          <a:prstGeom prst="rect">
            <a:avLst/>
          </a:prstGeom>
        </p:spPr>
      </p:pic>
      <p:sp>
        <p:nvSpPr>
          <p:cNvPr id="74" name="Стрелка вправо 73"/>
          <p:cNvSpPr/>
          <p:nvPr/>
        </p:nvSpPr>
        <p:spPr>
          <a:xfrm>
            <a:off x="6264374" y="5841485"/>
            <a:ext cx="839244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480" y="5715571"/>
            <a:ext cx="1087202" cy="761567"/>
          </a:xfrm>
          <a:prstGeom prst="rect">
            <a:avLst/>
          </a:prstGeom>
        </p:spPr>
      </p:pic>
      <p:sp>
        <p:nvSpPr>
          <p:cNvPr id="76" name="Блок-схема: узел 75"/>
          <p:cNvSpPr/>
          <p:nvPr/>
        </p:nvSpPr>
        <p:spPr>
          <a:xfrm>
            <a:off x="7769788" y="5310994"/>
            <a:ext cx="87597" cy="85725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Блок-схема: узел 76"/>
          <p:cNvSpPr/>
          <p:nvPr/>
        </p:nvSpPr>
        <p:spPr>
          <a:xfrm>
            <a:off x="8135371" y="5310993"/>
            <a:ext cx="87597" cy="85725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Блок-схема: узел 77"/>
          <p:cNvSpPr/>
          <p:nvPr/>
        </p:nvSpPr>
        <p:spPr>
          <a:xfrm>
            <a:off x="8500954" y="5310993"/>
            <a:ext cx="87597" cy="85725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8732" y="1504927"/>
            <a:ext cx="1483828" cy="1416720"/>
          </a:xfrm>
          <a:prstGeom prst="rect">
            <a:avLst/>
          </a:prstGeom>
        </p:spPr>
      </p:pic>
      <p:sp>
        <p:nvSpPr>
          <p:cNvPr id="81" name="Блок-схема: процесс 80"/>
          <p:cNvSpPr/>
          <p:nvPr/>
        </p:nvSpPr>
        <p:spPr>
          <a:xfrm>
            <a:off x="7287507" y="1254691"/>
            <a:ext cx="1819165" cy="5396630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Блок-схема: процесс 81"/>
          <p:cNvSpPr/>
          <p:nvPr/>
        </p:nvSpPr>
        <p:spPr>
          <a:xfrm>
            <a:off x="3196224" y="1254691"/>
            <a:ext cx="2845729" cy="5396630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Блок-схема: процесс 83"/>
          <p:cNvSpPr/>
          <p:nvPr/>
        </p:nvSpPr>
        <p:spPr>
          <a:xfrm>
            <a:off x="3012335" y="125585"/>
            <a:ext cx="6240209" cy="6638469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Заголовок 1"/>
          <p:cNvSpPr>
            <a:spLocks noGrp="1"/>
          </p:cNvSpPr>
          <p:nvPr>
            <p:ph type="title"/>
          </p:nvPr>
        </p:nvSpPr>
        <p:spPr>
          <a:xfrm>
            <a:off x="3724116" y="23614"/>
            <a:ext cx="4635674" cy="876145"/>
          </a:xfrm>
        </p:spPr>
        <p:txBody>
          <a:bodyPr/>
          <a:lstStyle/>
          <a:p>
            <a:r>
              <a:rPr lang="en-US" dirty="0" err="1" smtClean="0"/>
              <a:t>PkoGenerator</a:t>
            </a:r>
            <a:endParaRPr lang="ru-RU" dirty="0"/>
          </a:p>
        </p:txBody>
      </p:sp>
      <p:sp>
        <p:nvSpPr>
          <p:cNvPr id="46" name="Стрелка вправо 45"/>
          <p:cNvSpPr/>
          <p:nvPr/>
        </p:nvSpPr>
        <p:spPr>
          <a:xfrm>
            <a:off x="2078811" y="3361775"/>
            <a:ext cx="1008423" cy="454074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0" name="Стрелка вправо 79"/>
          <p:cNvSpPr/>
          <p:nvPr/>
        </p:nvSpPr>
        <p:spPr>
          <a:xfrm>
            <a:off x="9200946" y="1973133"/>
            <a:ext cx="839244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89" name="Рисунок 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1017" y="2092663"/>
            <a:ext cx="725189" cy="507983"/>
          </a:xfrm>
          <a:prstGeom prst="rect">
            <a:avLst/>
          </a:prstGeom>
        </p:spPr>
      </p:pic>
      <p:pic>
        <p:nvPicPr>
          <p:cNvPr id="87" name="Рисунок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535" y="2092663"/>
            <a:ext cx="725189" cy="507983"/>
          </a:xfrm>
          <a:prstGeom prst="rect">
            <a:avLst/>
          </a:prstGeom>
        </p:spPr>
      </p:pic>
      <p:pic>
        <p:nvPicPr>
          <p:cNvPr id="90" name="Рисунок 8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3307" y="2274446"/>
            <a:ext cx="725189" cy="507983"/>
          </a:xfrm>
          <a:prstGeom prst="rect">
            <a:avLst/>
          </a:prstGeom>
        </p:spPr>
      </p:pic>
      <p:pic>
        <p:nvPicPr>
          <p:cNvPr id="91" name="Рисунок 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0665" y="2319700"/>
            <a:ext cx="725189" cy="507983"/>
          </a:xfrm>
          <a:prstGeom prst="rect">
            <a:avLst/>
          </a:prstGeom>
        </p:spPr>
      </p:pic>
      <p:sp>
        <p:nvSpPr>
          <p:cNvPr id="47" name="Стрелка вправо 46"/>
          <p:cNvSpPr/>
          <p:nvPr/>
        </p:nvSpPr>
        <p:spPr>
          <a:xfrm rot="5400000">
            <a:off x="10635252" y="3149270"/>
            <a:ext cx="839244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0190" y="3903812"/>
            <a:ext cx="2037735" cy="211900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656" y="2622518"/>
            <a:ext cx="857386" cy="4317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8"/>
          <a:srcRect r="54540" b="6864"/>
          <a:stretch/>
        </p:blipFill>
        <p:spPr>
          <a:xfrm>
            <a:off x="7703028" y="1525822"/>
            <a:ext cx="308714" cy="318499"/>
          </a:xfrm>
          <a:prstGeom prst="rect">
            <a:avLst/>
          </a:prstGeom>
        </p:spPr>
      </p:pic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8"/>
          <a:srcRect r="54540" b="6864"/>
          <a:stretch/>
        </p:blipFill>
        <p:spPr>
          <a:xfrm>
            <a:off x="7703028" y="2353567"/>
            <a:ext cx="308714" cy="318499"/>
          </a:xfrm>
          <a:prstGeom prst="rect">
            <a:avLst/>
          </a:prstGeom>
        </p:spPr>
      </p:pic>
      <p:pic>
        <p:nvPicPr>
          <p:cNvPr id="83" name="Рисунок 82"/>
          <p:cNvPicPr>
            <a:picLocks noChangeAspect="1"/>
          </p:cNvPicPr>
          <p:nvPr/>
        </p:nvPicPr>
        <p:blipFill rotWithShape="1">
          <a:blip r:embed="rId8"/>
          <a:srcRect r="54540" b="6864"/>
          <a:stretch/>
        </p:blipFill>
        <p:spPr>
          <a:xfrm>
            <a:off x="7703028" y="3206340"/>
            <a:ext cx="308714" cy="318499"/>
          </a:xfrm>
          <a:prstGeom prst="rect">
            <a:avLst/>
          </a:prstGeom>
        </p:spPr>
      </p:pic>
      <p:pic>
        <p:nvPicPr>
          <p:cNvPr id="86" name="Рисунок 85"/>
          <p:cNvPicPr>
            <a:picLocks noChangeAspect="1"/>
          </p:cNvPicPr>
          <p:nvPr/>
        </p:nvPicPr>
        <p:blipFill rotWithShape="1">
          <a:blip r:embed="rId8"/>
          <a:srcRect r="54540" b="6864"/>
          <a:stretch/>
        </p:blipFill>
        <p:spPr>
          <a:xfrm>
            <a:off x="7703028" y="4158221"/>
            <a:ext cx="308714" cy="318499"/>
          </a:xfrm>
          <a:prstGeom prst="rect">
            <a:avLst/>
          </a:prstGeom>
        </p:spPr>
      </p:pic>
      <p:pic>
        <p:nvPicPr>
          <p:cNvPr id="88" name="Рисунок 87"/>
          <p:cNvPicPr>
            <a:picLocks noChangeAspect="1"/>
          </p:cNvPicPr>
          <p:nvPr/>
        </p:nvPicPr>
        <p:blipFill rotWithShape="1">
          <a:blip r:embed="rId8"/>
          <a:srcRect r="54540" b="6864"/>
          <a:stretch/>
        </p:blipFill>
        <p:spPr>
          <a:xfrm>
            <a:off x="7723512" y="5778054"/>
            <a:ext cx="308714" cy="31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3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55027" y="2544427"/>
            <a:ext cx="882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 smtClean="0"/>
              <a:t>Прочитать файл </a:t>
            </a:r>
            <a:r>
              <a:rPr lang="ru-RU" dirty="0" smtClean="0"/>
              <a:t>с </a:t>
            </a:r>
            <a:r>
              <a:rPr lang="ru-RU" dirty="0" smtClean="0"/>
              <a:t>информацией о контрагентах и суммах.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255027" y="1214172"/>
            <a:ext cx="8823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 smtClean="0"/>
              <a:t>Обработать входные параметры:</a:t>
            </a:r>
            <a:br>
              <a:rPr lang="ru-RU" dirty="0" smtClean="0"/>
            </a:br>
            <a:r>
              <a:rPr lang="ru-RU" dirty="0" smtClean="0"/>
              <a:t>- путь до </a:t>
            </a:r>
            <a:r>
              <a:rPr lang="ru-RU" dirty="0" smtClean="0"/>
              <a:t>файла </a:t>
            </a:r>
            <a:r>
              <a:rPr lang="en-US" dirty="0" smtClean="0"/>
              <a:t>Excel</a:t>
            </a:r>
            <a:r>
              <a:rPr lang="ru-RU" dirty="0" smtClean="0"/>
              <a:t>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- папка для сохранения сформированных </a:t>
            </a:r>
            <a:r>
              <a:rPr lang="ru-RU" dirty="0" smtClean="0"/>
              <a:t>ПКО.</a:t>
            </a:r>
            <a:endParaRPr lang="ru-RU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1255027" y="3601594"/>
            <a:ext cx="882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 smtClean="0"/>
              <a:t>Обработать информацию по каждой паре «Контрагент – Сумма».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255027" y="4674921"/>
            <a:ext cx="88235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/>
              <a:t>По </a:t>
            </a:r>
            <a:r>
              <a:rPr lang="ru-RU" dirty="0" smtClean="0"/>
              <a:t>каждому контрагенту сгенерировать </a:t>
            </a:r>
            <a:r>
              <a:rPr lang="ru-RU" dirty="0" smtClean="0"/>
              <a:t>ПКО.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55027" y="5774755"/>
            <a:ext cx="9034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 smtClean="0"/>
              <a:t>Файлы ПКО </a:t>
            </a:r>
            <a:r>
              <a:rPr lang="ru-RU" dirty="0"/>
              <a:t>сохранить в указанной папке для дальнейшей печати.</a:t>
            </a:r>
          </a:p>
        </p:txBody>
      </p:sp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0" y="290303"/>
            <a:ext cx="12192000" cy="60436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Декомпозиция задачи</a:t>
            </a:r>
            <a:br>
              <a:rPr lang="ru-RU" dirty="0" smtClean="0"/>
            </a:br>
            <a:r>
              <a:rPr lang="ru-RU" dirty="0" smtClean="0"/>
              <a:t> </a:t>
            </a:r>
            <a:r>
              <a:rPr lang="ru-RU" sz="2700" dirty="0" smtClean="0"/>
              <a:t>(первое приближение)</a:t>
            </a:r>
            <a:endParaRPr lang="ru-RU" sz="2700" dirty="0"/>
          </a:p>
        </p:txBody>
      </p:sp>
      <p:sp>
        <p:nvSpPr>
          <p:cNvPr id="13" name="Блок-схема: процесс 12"/>
          <p:cNvSpPr/>
          <p:nvPr/>
        </p:nvSpPr>
        <p:spPr>
          <a:xfrm>
            <a:off x="507999" y="1186222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Блок-схема: процесс 16"/>
          <p:cNvSpPr/>
          <p:nvPr/>
        </p:nvSpPr>
        <p:spPr>
          <a:xfrm>
            <a:off x="507999" y="2253627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лок-схема: процесс 17"/>
          <p:cNvSpPr/>
          <p:nvPr/>
        </p:nvSpPr>
        <p:spPr>
          <a:xfrm>
            <a:off x="507999" y="3334568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лок-схема: процесс 18"/>
          <p:cNvSpPr/>
          <p:nvPr/>
        </p:nvSpPr>
        <p:spPr>
          <a:xfrm>
            <a:off x="507999" y="4415509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лок-схема: процесс 19"/>
          <p:cNvSpPr/>
          <p:nvPr/>
        </p:nvSpPr>
        <p:spPr>
          <a:xfrm>
            <a:off x="507998" y="5480236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507996" y="4608445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07998" y="2418137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507997" y="3499766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507996" y="5718924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507998" y="1382320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46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55027" y="2544427"/>
            <a:ext cx="882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 smtClean="0"/>
              <a:t>Прочитать файл </a:t>
            </a:r>
            <a:r>
              <a:rPr lang="ru-RU" dirty="0" smtClean="0"/>
              <a:t>с </a:t>
            </a:r>
            <a:r>
              <a:rPr lang="ru-RU" dirty="0" smtClean="0"/>
              <a:t>информацией о контрагентах и суммах.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255027" y="1214172"/>
            <a:ext cx="8823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 smtClean="0"/>
              <a:t>Обработать входные параметры:</a:t>
            </a:r>
            <a:br>
              <a:rPr lang="ru-RU" dirty="0" smtClean="0"/>
            </a:br>
            <a:r>
              <a:rPr lang="ru-RU" dirty="0" smtClean="0"/>
              <a:t>- путь до </a:t>
            </a:r>
            <a:r>
              <a:rPr lang="ru-RU" dirty="0" smtClean="0"/>
              <a:t>файла </a:t>
            </a:r>
            <a:r>
              <a:rPr lang="en-US" dirty="0" smtClean="0"/>
              <a:t>Excel</a:t>
            </a:r>
            <a:r>
              <a:rPr lang="ru-RU" dirty="0" smtClean="0"/>
              <a:t>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- папка для сохранения сформированных </a:t>
            </a:r>
            <a:r>
              <a:rPr lang="ru-RU" dirty="0" smtClean="0"/>
              <a:t>ПКО.</a:t>
            </a:r>
            <a:endParaRPr lang="ru-RU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1255027" y="3601594"/>
            <a:ext cx="882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 smtClean="0"/>
              <a:t>Обработать информацию по каждой паре «Контрагент – Сумма».  </a:t>
            </a:r>
            <a:endParaRPr lang="ru-RU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255027" y="4674921"/>
            <a:ext cx="88235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/>
              <a:t>По </a:t>
            </a:r>
            <a:r>
              <a:rPr lang="ru-RU" dirty="0" smtClean="0"/>
              <a:t>каждому контрагенту сгенерировать </a:t>
            </a:r>
            <a:r>
              <a:rPr lang="ru-RU" dirty="0" smtClean="0"/>
              <a:t>ПКО.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55027" y="5774755"/>
            <a:ext cx="9034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3600"/>
              </a:spcBef>
            </a:pPr>
            <a:r>
              <a:rPr lang="ru-RU" dirty="0" smtClean="0"/>
              <a:t>Файлы ПКО </a:t>
            </a:r>
            <a:r>
              <a:rPr lang="ru-RU" dirty="0"/>
              <a:t>сохранить в указанной папке для дальнейшей печати.</a:t>
            </a:r>
          </a:p>
        </p:txBody>
      </p:sp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0" y="505952"/>
            <a:ext cx="12192000" cy="60436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Декомпозиция задачи</a:t>
            </a:r>
            <a:br>
              <a:rPr lang="ru-RU" dirty="0" smtClean="0"/>
            </a:br>
            <a:r>
              <a:rPr lang="ru-RU" dirty="0" smtClean="0"/>
              <a:t> </a:t>
            </a:r>
            <a:endParaRPr lang="ru-RU" sz="2700" dirty="0"/>
          </a:p>
        </p:txBody>
      </p:sp>
      <p:sp>
        <p:nvSpPr>
          <p:cNvPr id="13" name="Блок-схема: процесс 12"/>
          <p:cNvSpPr/>
          <p:nvPr/>
        </p:nvSpPr>
        <p:spPr>
          <a:xfrm>
            <a:off x="507999" y="1186222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Блок-схема: процесс 16"/>
          <p:cNvSpPr/>
          <p:nvPr/>
        </p:nvSpPr>
        <p:spPr>
          <a:xfrm>
            <a:off x="507999" y="2253627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лок-схема: процесс 17"/>
          <p:cNvSpPr/>
          <p:nvPr/>
        </p:nvSpPr>
        <p:spPr>
          <a:xfrm>
            <a:off x="507999" y="3334568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лок-схема: процесс 18"/>
          <p:cNvSpPr/>
          <p:nvPr/>
        </p:nvSpPr>
        <p:spPr>
          <a:xfrm>
            <a:off x="507999" y="4415509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лок-схема: процесс 19"/>
          <p:cNvSpPr/>
          <p:nvPr/>
        </p:nvSpPr>
        <p:spPr>
          <a:xfrm>
            <a:off x="507998" y="5480236"/>
            <a:ext cx="7968343" cy="9373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507996" y="4608445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07998" y="2418137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507997" y="3499766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507996" y="5718924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507998" y="1382320"/>
            <a:ext cx="747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ru-RU" sz="28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431635" y="3361049"/>
            <a:ext cx="37156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ts val="3600"/>
              </a:spcBef>
              <a:buFont typeface="Wingdings" panose="05000000000000000000" pitchFamily="2" charset="2"/>
              <a:buChar char="ü"/>
            </a:pP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Выделить объектную 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модель: 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«бухгалтерская операция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502057" y="4392198"/>
            <a:ext cx="344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spcBef>
                <a:spcPts val="3600"/>
              </a:spcBef>
              <a:buFont typeface="Wingdings" panose="05000000000000000000" pitchFamily="2" charset="2"/>
              <a:buChar char="ü"/>
            </a:pP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Подготовить шаблон ПКО.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476341" y="4799557"/>
            <a:ext cx="37156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ts val="3600"/>
              </a:spcBef>
              <a:buFont typeface="Wingdings" panose="05000000000000000000" pitchFamily="2" charset="2"/>
              <a:buChar char="ü"/>
            </a:pP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некоторых ячейках сумму заполнить прописью.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824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36" y="1349676"/>
            <a:ext cx="1459658" cy="1479120"/>
          </a:xfrm>
          <a:prstGeom prst="rect">
            <a:avLst/>
          </a:prstGeom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57" y="4047233"/>
            <a:ext cx="787500" cy="742500"/>
          </a:xfrm>
          <a:prstGeom prst="rect">
            <a:avLst/>
          </a:prstGeom>
        </p:spPr>
      </p:pic>
      <p:pic>
        <p:nvPicPr>
          <p:cNvPr id="45" name="Рисунок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9577" y="4047233"/>
            <a:ext cx="855000" cy="855000"/>
          </a:xfrm>
          <a:prstGeom prst="rect">
            <a:avLst/>
          </a:prstGeom>
        </p:spPr>
      </p:pic>
      <p:cxnSp>
        <p:nvCxnSpPr>
          <p:cNvPr id="49" name="Прямая соединительная линия 48"/>
          <p:cNvCxnSpPr/>
          <p:nvPr/>
        </p:nvCxnSpPr>
        <p:spPr>
          <a:xfrm>
            <a:off x="1549203" y="4422884"/>
            <a:ext cx="363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Рисунок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378" y="1274078"/>
            <a:ext cx="600520" cy="566205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810" y="1247405"/>
            <a:ext cx="651993" cy="651993"/>
          </a:xfrm>
          <a:prstGeom prst="rect">
            <a:avLst/>
          </a:prstGeom>
        </p:spPr>
      </p:pic>
      <p:cxnSp>
        <p:nvCxnSpPr>
          <p:cNvPr id="52" name="Прямая соединительная линия 51"/>
          <p:cNvCxnSpPr/>
          <p:nvPr/>
        </p:nvCxnSpPr>
        <p:spPr>
          <a:xfrm>
            <a:off x="4612147" y="1591927"/>
            <a:ext cx="263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Рисунок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159" y="1953443"/>
            <a:ext cx="600520" cy="566205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965" y="1953443"/>
            <a:ext cx="651993" cy="651993"/>
          </a:xfrm>
          <a:prstGeom prst="rect">
            <a:avLst/>
          </a:prstGeom>
        </p:spPr>
      </p:pic>
      <p:cxnSp>
        <p:nvCxnSpPr>
          <p:cNvPr id="55" name="Прямая соединительная линия 54"/>
          <p:cNvCxnSpPr/>
          <p:nvPr/>
        </p:nvCxnSpPr>
        <p:spPr>
          <a:xfrm>
            <a:off x="4609538" y="2236545"/>
            <a:ext cx="263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Рисунок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723" y="2673549"/>
            <a:ext cx="600520" cy="566205"/>
          </a:xfrm>
          <a:prstGeom prst="rect">
            <a:avLst/>
          </a:prstGeom>
        </p:spPr>
      </p:pic>
      <p:pic>
        <p:nvPicPr>
          <p:cNvPr id="57" name="Рисунок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409" y="2673549"/>
            <a:ext cx="651993" cy="651993"/>
          </a:xfrm>
          <a:prstGeom prst="rect">
            <a:avLst/>
          </a:prstGeom>
        </p:spPr>
      </p:pic>
      <p:cxnSp>
        <p:nvCxnSpPr>
          <p:cNvPr id="58" name="Прямая соединительная линия 57"/>
          <p:cNvCxnSpPr/>
          <p:nvPr/>
        </p:nvCxnSpPr>
        <p:spPr>
          <a:xfrm>
            <a:off x="4640421" y="2956651"/>
            <a:ext cx="263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Рисунок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723" y="4034371"/>
            <a:ext cx="600520" cy="566205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965" y="4007417"/>
            <a:ext cx="651993" cy="651993"/>
          </a:xfrm>
          <a:prstGeom prst="rect">
            <a:avLst/>
          </a:prstGeom>
        </p:spPr>
      </p:pic>
      <p:cxnSp>
        <p:nvCxnSpPr>
          <p:cNvPr id="61" name="Прямая соединительная линия 60"/>
          <p:cNvCxnSpPr/>
          <p:nvPr/>
        </p:nvCxnSpPr>
        <p:spPr>
          <a:xfrm>
            <a:off x="4667746" y="4317473"/>
            <a:ext cx="263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Блок-схема: узел 61"/>
          <p:cNvSpPr/>
          <p:nvPr/>
        </p:nvSpPr>
        <p:spPr>
          <a:xfrm>
            <a:off x="4350197" y="3560079"/>
            <a:ext cx="63616" cy="65371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Блок-схема: узел 63"/>
          <p:cNvSpPr/>
          <p:nvPr/>
        </p:nvSpPr>
        <p:spPr>
          <a:xfrm>
            <a:off x="4767843" y="3560078"/>
            <a:ext cx="63616" cy="65371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Блок-схема: узел 64"/>
          <p:cNvSpPr/>
          <p:nvPr/>
        </p:nvSpPr>
        <p:spPr>
          <a:xfrm>
            <a:off x="5160950" y="3561383"/>
            <a:ext cx="63616" cy="65371"/>
          </a:xfrm>
          <a:prstGeom prst="flowChartConnector">
            <a:avLst/>
          </a:prstGeom>
          <a:solidFill>
            <a:srgbClr val="8A949C"/>
          </a:solidFill>
          <a:ln>
            <a:solidFill>
              <a:srgbClr val="8A9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2301" y="3239754"/>
            <a:ext cx="1233988" cy="1178179"/>
          </a:xfrm>
          <a:prstGeom prst="rect">
            <a:avLst/>
          </a:prstGeom>
        </p:spPr>
      </p:pic>
      <p:sp>
        <p:nvSpPr>
          <p:cNvPr id="81" name="Блок-схема: процесс 80"/>
          <p:cNvSpPr/>
          <p:nvPr/>
        </p:nvSpPr>
        <p:spPr>
          <a:xfrm>
            <a:off x="7186371" y="1174843"/>
            <a:ext cx="3059254" cy="5396630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Блок-схема: процесс 81"/>
          <p:cNvSpPr/>
          <p:nvPr/>
        </p:nvSpPr>
        <p:spPr>
          <a:xfrm>
            <a:off x="344085" y="3961295"/>
            <a:ext cx="2845729" cy="95113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Заголовок 1"/>
          <p:cNvSpPr>
            <a:spLocks noGrp="1"/>
          </p:cNvSpPr>
          <p:nvPr>
            <p:ph type="title"/>
          </p:nvPr>
        </p:nvSpPr>
        <p:spPr>
          <a:xfrm>
            <a:off x="7394727" y="828778"/>
            <a:ext cx="2663609" cy="255563"/>
          </a:xfrm>
        </p:spPr>
        <p:txBody>
          <a:bodyPr>
            <a:noAutofit/>
          </a:bodyPr>
          <a:lstStyle/>
          <a:p>
            <a:r>
              <a:rPr lang="en-US" sz="2000" dirty="0" err="1" smtClean="0"/>
              <a:t>Generator.cs</a:t>
            </a:r>
            <a:endParaRPr lang="ru-RU" sz="2000" dirty="0"/>
          </a:p>
        </p:txBody>
      </p:sp>
      <p:pic>
        <p:nvPicPr>
          <p:cNvPr id="89" name="Рисунок 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9295" y="3714393"/>
            <a:ext cx="536833" cy="376043"/>
          </a:xfrm>
          <a:prstGeom prst="rect">
            <a:avLst/>
          </a:prstGeom>
        </p:spPr>
      </p:pic>
      <p:pic>
        <p:nvPicPr>
          <p:cNvPr id="87" name="Рисунок 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5813" y="3714393"/>
            <a:ext cx="536833" cy="376043"/>
          </a:xfrm>
          <a:prstGeom prst="rect">
            <a:avLst/>
          </a:prstGeom>
        </p:spPr>
      </p:pic>
      <p:pic>
        <p:nvPicPr>
          <p:cNvPr id="90" name="Рисунок 8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1585" y="3896176"/>
            <a:ext cx="536833" cy="376043"/>
          </a:xfrm>
          <a:prstGeom prst="rect">
            <a:avLst/>
          </a:prstGeom>
        </p:spPr>
      </p:pic>
      <p:pic>
        <p:nvPicPr>
          <p:cNvPr id="91" name="Рисунок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8943" y="3941430"/>
            <a:ext cx="536833" cy="376043"/>
          </a:xfrm>
          <a:prstGeom prst="rect">
            <a:avLst/>
          </a:prstGeom>
        </p:spPr>
      </p:pic>
      <p:sp>
        <p:nvSpPr>
          <p:cNvPr id="63" name="Заголовок 1"/>
          <p:cNvSpPr txBox="1">
            <a:spLocks/>
          </p:cNvSpPr>
          <p:nvPr/>
        </p:nvSpPr>
        <p:spPr>
          <a:xfrm>
            <a:off x="377092" y="3537792"/>
            <a:ext cx="2829084" cy="377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F3951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AccountingOperation.cs</a:t>
            </a:r>
            <a:endParaRPr lang="ru-RU" dirty="0"/>
          </a:p>
        </p:txBody>
      </p:sp>
      <p:sp>
        <p:nvSpPr>
          <p:cNvPr id="83" name="Заголовок 1"/>
          <p:cNvSpPr txBox="1">
            <a:spLocks/>
          </p:cNvSpPr>
          <p:nvPr/>
        </p:nvSpPr>
        <p:spPr>
          <a:xfrm>
            <a:off x="145692" y="872481"/>
            <a:ext cx="1918826" cy="6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F3951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 smtClean="0"/>
              <a:t>FileReader.cs</a:t>
            </a:r>
            <a:endParaRPr lang="ru-RU" sz="2000" dirty="0"/>
          </a:p>
        </p:txBody>
      </p:sp>
      <p:sp>
        <p:nvSpPr>
          <p:cNvPr id="93" name="Блок-схема: процесс 92"/>
          <p:cNvSpPr/>
          <p:nvPr/>
        </p:nvSpPr>
        <p:spPr>
          <a:xfrm>
            <a:off x="240663" y="1124023"/>
            <a:ext cx="2925963" cy="210849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Блок-схема: процесс 93"/>
          <p:cNvSpPr/>
          <p:nvPr/>
        </p:nvSpPr>
        <p:spPr>
          <a:xfrm>
            <a:off x="133524" y="697504"/>
            <a:ext cx="10425177" cy="6064519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Стрелка вправо 79"/>
          <p:cNvSpPr/>
          <p:nvPr/>
        </p:nvSpPr>
        <p:spPr>
          <a:xfrm>
            <a:off x="9666444" y="3645181"/>
            <a:ext cx="1010137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5" name="Заголовок 1"/>
          <p:cNvSpPr txBox="1">
            <a:spLocks/>
          </p:cNvSpPr>
          <p:nvPr/>
        </p:nvSpPr>
        <p:spPr>
          <a:xfrm>
            <a:off x="245431" y="2944692"/>
            <a:ext cx="1645868" cy="85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F3951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err="1" smtClean="0"/>
              <a:t>inputFilePath</a:t>
            </a:r>
            <a:endParaRPr lang="ru-RU" sz="1800" dirty="0"/>
          </a:p>
        </p:txBody>
      </p:sp>
      <p:sp>
        <p:nvSpPr>
          <p:cNvPr id="96" name="Заголовок 1"/>
          <p:cNvSpPr txBox="1">
            <a:spLocks/>
          </p:cNvSpPr>
          <p:nvPr/>
        </p:nvSpPr>
        <p:spPr>
          <a:xfrm>
            <a:off x="10223759" y="4407975"/>
            <a:ext cx="2271751" cy="223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F3951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err="1" smtClean="0"/>
              <a:t>OutputFolderPath</a:t>
            </a:r>
            <a:endParaRPr lang="ru-RU" sz="1400" dirty="0"/>
          </a:p>
        </p:txBody>
      </p:sp>
      <p:sp>
        <p:nvSpPr>
          <p:cNvPr id="97" name="Заголовок 1"/>
          <p:cNvSpPr txBox="1">
            <a:spLocks/>
          </p:cNvSpPr>
          <p:nvPr/>
        </p:nvSpPr>
        <p:spPr>
          <a:xfrm>
            <a:off x="3865736" y="273064"/>
            <a:ext cx="3618668" cy="25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F3951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 smtClean="0"/>
              <a:t>PkoGenerator.Console</a:t>
            </a:r>
            <a:endParaRPr lang="ru-RU" sz="2000" dirty="0"/>
          </a:p>
        </p:txBody>
      </p:sp>
      <p:sp>
        <p:nvSpPr>
          <p:cNvPr id="84" name="Стрелка вправо 83"/>
          <p:cNvSpPr/>
          <p:nvPr/>
        </p:nvSpPr>
        <p:spPr>
          <a:xfrm rot="16200000">
            <a:off x="2099600" y="2879338"/>
            <a:ext cx="809712" cy="424381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6" name="Блок-схема: процесс 85"/>
          <p:cNvSpPr/>
          <p:nvPr/>
        </p:nvSpPr>
        <p:spPr>
          <a:xfrm>
            <a:off x="3675241" y="1134852"/>
            <a:ext cx="2123495" cy="3795519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0" name="Рисунок 9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404" y="1492725"/>
            <a:ext cx="657289" cy="619730"/>
          </a:xfrm>
          <a:prstGeom prst="rect">
            <a:avLst/>
          </a:prstGeom>
        </p:spPr>
      </p:pic>
      <p:pic>
        <p:nvPicPr>
          <p:cNvPr id="101" name="Рисунок 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544" y="1472238"/>
            <a:ext cx="713628" cy="713628"/>
          </a:xfrm>
          <a:prstGeom prst="rect">
            <a:avLst/>
          </a:prstGeom>
        </p:spPr>
      </p:pic>
      <p:sp>
        <p:nvSpPr>
          <p:cNvPr id="104" name="Блок-схема: процесс 103"/>
          <p:cNvSpPr/>
          <p:nvPr/>
        </p:nvSpPr>
        <p:spPr>
          <a:xfrm>
            <a:off x="7394727" y="1327022"/>
            <a:ext cx="2319539" cy="95113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Стрелка вправо 104"/>
          <p:cNvSpPr/>
          <p:nvPr/>
        </p:nvSpPr>
        <p:spPr>
          <a:xfrm rot="5400000">
            <a:off x="8114044" y="2502663"/>
            <a:ext cx="779728" cy="488752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06" name="Рисунок 1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1463" y="3238417"/>
            <a:ext cx="1656190" cy="1160134"/>
          </a:xfrm>
          <a:prstGeom prst="rect">
            <a:avLst/>
          </a:prstGeom>
        </p:spPr>
      </p:pic>
      <p:sp>
        <p:nvSpPr>
          <p:cNvPr id="107" name="Стрелка вправо 106"/>
          <p:cNvSpPr/>
          <p:nvPr/>
        </p:nvSpPr>
        <p:spPr>
          <a:xfrm rot="16200000">
            <a:off x="8200413" y="4502252"/>
            <a:ext cx="641668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8" name="Заголовок 1"/>
          <p:cNvSpPr txBox="1">
            <a:spLocks/>
          </p:cNvSpPr>
          <p:nvPr/>
        </p:nvSpPr>
        <p:spPr>
          <a:xfrm>
            <a:off x="7454926" y="6151636"/>
            <a:ext cx="2271751" cy="223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F3951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smtClean="0"/>
              <a:t>OrderTemplate.xlsx</a:t>
            </a:r>
            <a:endParaRPr lang="ru-RU" sz="1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283" y="5211745"/>
            <a:ext cx="1227808" cy="860877"/>
          </a:xfrm>
          <a:prstGeom prst="rect">
            <a:avLst/>
          </a:prstGeom>
        </p:spPr>
      </p:pic>
      <p:cxnSp>
        <p:nvCxnSpPr>
          <p:cNvPr id="66" name="Прямая соединительная линия 65"/>
          <p:cNvCxnSpPr/>
          <p:nvPr/>
        </p:nvCxnSpPr>
        <p:spPr>
          <a:xfrm>
            <a:off x="8363276" y="1802590"/>
            <a:ext cx="3632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Блок-схема: процесс 72"/>
          <p:cNvSpPr/>
          <p:nvPr/>
        </p:nvSpPr>
        <p:spPr>
          <a:xfrm>
            <a:off x="3280943" y="5370629"/>
            <a:ext cx="2845729" cy="951136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Заголовок 1"/>
          <p:cNvSpPr txBox="1">
            <a:spLocks/>
          </p:cNvSpPr>
          <p:nvPr/>
        </p:nvSpPr>
        <p:spPr>
          <a:xfrm>
            <a:off x="3300498" y="5047635"/>
            <a:ext cx="2826173" cy="299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F3951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RusNumber</a:t>
            </a:r>
            <a:r>
              <a:rPr lang="en-US" dirty="0" err="1" smtClean="0"/>
              <a:t>.cs</a:t>
            </a:r>
            <a:endParaRPr lang="ru-RU" dirty="0"/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2754" y="5450126"/>
            <a:ext cx="855000" cy="855000"/>
          </a:xfrm>
          <a:prstGeom prst="rect">
            <a:avLst/>
          </a:prstGeom>
        </p:spPr>
      </p:pic>
      <p:sp>
        <p:nvSpPr>
          <p:cNvPr id="76" name="Стрелка вправо 75"/>
          <p:cNvSpPr/>
          <p:nvPr/>
        </p:nvSpPr>
        <p:spPr>
          <a:xfrm>
            <a:off x="4642350" y="5684787"/>
            <a:ext cx="407357" cy="322820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7" name="Стрелка вправо 76"/>
          <p:cNvSpPr/>
          <p:nvPr/>
        </p:nvSpPr>
        <p:spPr>
          <a:xfrm>
            <a:off x="6259157" y="5580694"/>
            <a:ext cx="770761" cy="454074"/>
          </a:xfrm>
          <a:prstGeom prst="rightArrow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1878"/>
          <a:stretch/>
        </p:blipFill>
        <p:spPr>
          <a:xfrm>
            <a:off x="5265572" y="5557135"/>
            <a:ext cx="602494" cy="602494"/>
          </a:xfrm>
          <a:prstGeom prst="rect">
            <a:avLst/>
          </a:prstGeom>
        </p:spPr>
      </p:pic>
      <p:sp>
        <p:nvSpPr>
          <p:cNvPr id="78" name="Стрелка вправо 77"/>
          <p:cNvSpPr/>
          <p:nvPr/>
        </p:nvSpPr>
        <p:spPr>
          <a:xfrm>
            <a:off x="2748654" y="1732862"/>
            <a:ext cx="809712" cy="424381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2" name="Стрелка вправо 91"/>
          <p:cNvSpPr/>
          <p:nvPr/>
        </p:nvSpPr>
        <p:spPr>
          <a:xfrm>
            <a:off x="6063583" y="1753890"/>
            <a:ext cx="809712" cy="424381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661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6300" y="123826"/>
            <a:ext cx="10515600" cy="598702"/>
          </a:xfrm>
        </p:spPr>
        <p:txBody>
          <a:bodyPr/>
          <a:lstStyle/>
          <a:p>
            <a:r>
              <a:rPr lang="ru-RU" dirty="0" smtClean="0"/>
              <a:t>Решение «</a:t>
            </a:r>
            <a:r>
              <a:rPr lang="en-US" dirty="0" err="1" smtClean="0"/>
              <a:t>PkoGenerator</a:t>
            </a:r>
            <a:r>
              <a:rPr lang="ru-RU" dirty="0" smtClean="0"/>
              <a:t>»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150" y="722528"/>
            <a:ext cx="4025900" cy="59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9938" y="365126"/>
            <a:ext cx="10515600" cy="598702"/>
          </a:xfrm>
        </p:spPr>
        <p:txBody>
          <a:bodyPr/>
          <a:lstStyle/>
          <a:p>
            <a:r>
              <a:rPr lang="ru-RU" dirty="0" smtClean="0"/>
              <a:t>Тесты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596" y="963828"/>
            <a:ext cx="3480284" cy="56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0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793750"/>
            <a:ext cx="10515600" cy="1154186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Демонстрация работы </a:t>
            </a:r>
            <a:br>
              <a:rPr lang="ru-RU" dirty="0" smtClean="0"/>
            </a:br>
            <a:r>
              <a:rPr lang="ru-RU" dirty="0" smtClean="0"/>
              <a:t>приложения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76275" y="2948464"/>
            <a:ext cx="11515725" cy="36869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dirty="0" smtClean="0"/>
              <a:t>Консольное приложение </a:t>
            </a:r>
            <a:r>
              <a:rPr lang="en-US" sz="1600" dirty="0" smtClean="0"/>
              <a:t>PkoGeneratorConsole.exe </a:t>
            </a:r>
            <a:r>
              <a:rPr lang="ru-RU" sz="1600" dirty="0" smtClean="0"/>
              <a:t>запускается </a:t>
            </a:r>
            <a:br>
              <a:rPr lang="ru-RU" sz="1600" dirty="0" smtClean="0"/>
            </a:br>
            <a:r>
              <a:rPr lang="ru-RU" sz="1600" dirty="0" smtClean="0"/>
              <a:t>с параметрами:</a:t>
            </a:r>
            <a:br>
              <a:rPr lang="ru-RU" sz="1600" dirty="0" smtClean="0"/>
            </a:br>
            <a:r>
              <a:rPr lang="ru-RU" sz="1600" dirty="0" smtClean="0"/>
              <a:t>1. Путь до исходного файла с бухгалтерскими операциями,</a:t>
            </a:r>
            <a:br>
              <a:rPr lang="ru-RU" sz="1600" dirty="0" smtClean="0"/>
            </a:br>
            <a:r>
              <a:rPr lang="ru-RU" sz="1600" dirty="0" smtClean="0"/>
              <a:t>2. Путь до папки, куда будут сгенерированы ПКО.</a:t>
            </a:r>
            <a:br>
              <a:rPr lang="ru-RU" sz="1600" dirty="0" smtClean="0"/>
            </a:b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endParaRPr lang="ru-RU" sz="16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Например:</a:t>
            </a:r>
            <a:br>
              <a:rPr lang="ru-RU" sz="1600" dirty="0" smtClean="0"/>
            </a:br>
            <a:r>
              <a:rPr lang="en-US" sz="1600" b="1" dirty="0"/>
              <a:t>PkoGenerator.Console.exe C:\TemplatePkoGenerator\CounterpartiesList.xlsx C:\Results</a:t>
            </a:r>
            <a:endParaRPr lang="ru-RU" sz="1600" b="1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956459" y="2529840"/>
            <a:ext cx="1221836" cy="0"/>
          </a:xfrm>
          <a:prstGeom prst="line">
            <a:avLst/>
          </a:prstGeom>
          <a:ln w="38100">
            <a:solidFill>
              <a:srgbClr val="F395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73" r="9904"/>
          <a:stretch/>
        </p:blipFill>
        <p:spPr>
          <a:xfrm>
            <a:off x="7391400" y="0"/>
            <a:ext cx="4847454" cy="530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0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73100" y="438150"/>
            <a:ext cx="10515600" cy="1154186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Демонстрация работы </a:t>
            </a:r>
            <a:br>
              <a:rPr lang="ru-RU" dirty="0" smtClean="0"/>
            </a:br>
            <a:r>
              <a:rPr lang="ru-RU" dirty="0" smtClean="0"/>
              <a:t>приложения</a:t>
            </a:r>
            <a:endParaRPr lang="ru-RU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943759" y="2098040"/>
            <a:ext cx="1221836" cy="0"/>
          </a:xfrm>
          <a:prstGeom prst="line">
            <a:avLst/>
          </a:prstGeom>
          <a:ln w="38100">
            <a:solidFill>
              <a:srgbClr val="F395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255" y="1947936"/>
            <a:ext cx="9074745" cy="49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1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793750"/>
            <a:ext cx="10515600" cy="1154186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Демонстрация работы </a:t>
            </a:r>
            <a:br>
              <a:rPr lang="ru-RU" dirty="0" smtClean="0"/>
            </a:br>
            <a:r>
              <a:rPr lang="ru-RU" dirty="0" smtClean="0"/>
              <a:t>приложения</a:t>
            </a:r>
            <a:endParaRPr lang="ru-RU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956459" y="2529840"/>
            <a:ext cx="1221836" cy="0"/>
          </a:xfrm>
          <a:prstGeom prst="line">
            <a:avLst/>
          </a:prstGeom>
          <a:ln w="38100">
            <a:solidFill>
              <a:srgbClr val="F395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62" y="2873042"/>
            <a:ext cx="11831638" cy="305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8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349250"/>
            <a:ext cx="10515600" cy="1154186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Демонстрация работы </a:t>
            </a:r>
            <a:br>
              <a:rPr lang="ru-RU" dirty="0" smtClean="0"/>
            </a:br>
            <a:r>
              <a:rPr lang="ru-RU" dirty="0" smtClean="0"/>
              <a:t>приложения</a:t>
            </a:r>
            <a:endParaRPr lang="ru-RU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956459" y="1947936"/>
            <a:ext cx="1221836" cy="0"/>
          </a:xfrm>
          <a:prstGeom prst="line">
            <a:avLst/>
          </a:prstGeom>
          <a:ln w="38100">
            <a:solidFill>
              <a:srgbClr val="F395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213" y="1757436"/>
            <a:ext cx="8715587" cy="462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8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r="39786"/>
          <a:stretch/>
        </p:blipFill>
        <p:spPr>
          <a:xfrm>
            <a:off x="2255093" y="0"/>
            <a:ext cx="7585591" cy="678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2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r="39786"/>
          <a:stretch/>
        </p:blipFill>
        <p:spPr>
          <a:xfrm>
            <a:off x="2255093" y="0"/>
            <a:ext cx="7585591" cy="6784019"/>
          </a:xfrm>
          <a:prstGeom prst="rect">
            <a:avLst/>
          </a:prstGeom>
        </p:spPr>
      </p:pic>
      <p:sp>
        <p:nvSpPr>
          <p:cNvPr id="6" name="Овал 5"/>
          <p:cNvSpPr/>
          <p:nvPr/>
        </p:nvSpPr>
        <p:spPr>
          <a:xfrm>
            <a:off x="8220075" y="2857500"/>
            <a:ext cx="990600" cy="29527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4362450" y="4343400"/>
            <a:ext cx="990600" cy="29527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460407" y="4343400"/>
            <a:ext cx="1902668" cy="29527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8877300" y="4743450"/>
            <a:ext cx="485775" cy="3048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843100" y="5172075"/>
            <a:ext cx="485775" cy="3048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3821857" y="4900612"/>
            <a:ext cx="1902668" cy="29527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8877300" y="4038600"/>
            <a:ext cx="485775" cy="3048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7754516" y="4038600"/>
            <a:ext cx="657225" cy="25717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7300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ВАШИ ВОПРОСЫ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20482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2849</TotalTime>
  <Words>256</Words>
  <Application>Microsoft Office PowerPoint</Application>
  <PresentationFormat>Широкоэкранный</PresentationFormat>
  <Paragraphs>78</Paragraphs>
  <Slides>16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</vt:lpstr>
      <vt:lpstr>Wingdings</vt:lpstr>
      <vt:lpstr>Тема Office</vt:lpstr>
      <vt:lpstr>Печать приходных кассовых ордеров</vt:lpstr>
      <vt:lpstr>Постановка задачи</vt:lpstr>
      <vt:lpstr>Декомпозиция задачи</vt:lpstr>
      <vt:lpstr>PkoGenerator</vt:lpstr>
      <vt:lpstr>Декомпозиция задачи  (первое приближение)</vt:lpstr>
      <vt:lpstr>Декомпозиция задачи  </vt:lpstr>
      <vt:lpstr>Generator.cs</vt:lpstr>
      <vt:lpstr>Решение «PkoGenerator»</vt:lpstr>
      <vt:lpstr>Тесты</vt:lpstr>
      <vt:lpstr>Демонстрация работы  приложения</vt:lpstr>
      <vt:lpstr>Демонстрация работы  приложения</vt:lpstr>
      <vt:lpstr>Демонстрация работы  приложения</vt:lpstr>
      <vt:lpstr>Демонстрация работы  приложения</vt:lpstr>
      <vt:lpstr>Презентация PowerPoint</vt:lpstr>
      <vt:lpstr>Презентация PowerPoint</vt:lpstr>
      <vt:lpstr>ВАШИ ВОПРОСЫ</vt:lpstr>
    </vt:vector>
  </TitlesOfParts>
  <Company>NPO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Кирьянова Анастасия (Kiryanova_AS)</dc:creator>
  <cp:lastModifiedBy>Daniil Kiryanov</cp:lastModifiedBy>
  <cp:revision>461</cp:revision>
  <dcterms:created xsi:type="dcterms:W3CDTF">2019-02-15T06:11:05Z</dcterms:created>
  <dcterms:modified xsi:type="dcterms:W3CDTF">2022-10-26T19:07:33Z</dcterms:modified>
</cp:coreProperties>
</file>